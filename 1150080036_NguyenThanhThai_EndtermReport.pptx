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sldIdLst>
    <p:sldId id="313" r:id="rId5"/>
    <p:sldId id="314" r:id="rId6"/>
    <p:sldId id="318" r:id="rId7"/>
    <p:sldId id="328" r:id="rId8"/>
    <p:sldId id="329" r:id="rId9"/>
    <p:sldId id="332" r:id="rId10"/>
    <p:sldId id="333" r:id="rId11"/>
    <p:sldId id="334" r:id="rId12"/>
    <p:sldId id="339" r:id="rId13"/>
    <p:sldId id="34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E&amp;q=https%3A%2F%2Fowasp.org%2Fwww-project-juice-shop%2F" TargetMode="External"/><Relationship Id="rId2" Type="http://schemas.openxmlformats.org/officeDocument/2006/relationships/hyperlink" Target="https://www.google.com/url?sa=E&amp;q=https%3A%2F%2Fdocs.cypress.io%2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oogle.com/url?sa=E&amp;q=https%3A%2F%2Fdocs.pytest.org%2Fen%2Fstable%2F" TargetMode="External"/><Relationship Id="rId4" Type="http://schemas.openxmlformats.org/officeDocument/2006/relationships/hyperlink" Target="https://www.google.com/url?sa=E&amp;q=https%3A%2F%2Fselenium-python.readthedocs.io%2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Data-driven testing: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test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(CSV/JSON).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130" y="4682062"/>
            <a:ext cx="8652788" cy="4572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vi-VN" sz="1800" dirty="0"/>
              <a:t>Nguyễn Thành Thái / 1150080036 / 11_ĐH_CNPM1</a:t>
            </a:r>
            <a:endParaRPr lang="en-US" sz="18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881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57A13-67F5-BA3E-7A0F-E651CBC8D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TỔNG QUAN &amp; PHẠM VI KIỂM THỬ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AF18FA5-2958-5337-4E0A-AA914EED62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014194"/>
            <a:ext cx="520644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1.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Mục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tiêu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dự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án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(Objectives)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Ứng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dụng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Data-Driven Testing (DDT)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tự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động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hóa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Backend.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Tách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biệt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hoàn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toàn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Code (.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py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)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và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Dữ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liệu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test (.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json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2.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Phạm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vi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kiểm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thử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(In-Scope)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Tập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trung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5 API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cốt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lõi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sinh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ra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doanh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thu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Mã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giảm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giá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(Coupons)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Quản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lý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Tồn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kho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(Inventory)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Tìm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kiếm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&amp;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Lọc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(Search)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Xác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thực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Đặt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hàng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(Checkout)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Cổng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thanh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toán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VNPay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3.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Ngoài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phạm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vi (Out-of-Scope)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Giao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diện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người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dùng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(UI/UX).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Kiểm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thử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chịu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tải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cực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hạn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(Stress Testing).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4.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Công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nghệ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sử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dụng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Python,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PyTest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, JSON.</a:t>
            </a:r>
          </a:p>
        </p:txBody>
      </p:sp>
      <p:pic>
        <p:nvPicPr>
          <p:cNvPr id="1029" name="Picture 5" descr="Không có mô tả.">
            <a:extLst>
              <a:ext uri="{FF2B5EF4-FFF2-40B4-BE49-F238E27FC236}">
                <a16:creationId xmlns:a16="http://schemas.microsoft.com/office/drawing/2014/main" id="{59AD679B-4F0A-B352-F79C-39EBD3333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243" y="2014194"/>
            <a:ext cx="5522823" cy="396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216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57A13-67F5-BA3E-7A0F-E651CBC8D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CHIẾN LƯỢC &amp; KẾ HOẠCH KIỂM THỬ</a:t>
            </a:r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5E8216D-7957-6E87-20EB-753E3CB9FE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014194"/>
            <a:ext cx="1005840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1.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Phương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pháp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&amp;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Chiến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lược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Kiểm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thử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Hộp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đen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(Black-box)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hợp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Tự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động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hóa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(Automation)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Chiến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lược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cốt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lõi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Data-Driven Testing (DDT).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Mục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tiêu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biệt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hoàn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toàn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Code (.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Dữ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json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2.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Môi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trường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Kiểm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thử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(Environment)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Hệ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thống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Localhost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Môi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trường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Staging/Dev).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Database: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SQLite / PostgreSQL.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Công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cụ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Python,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PyTest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XlsxWriter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xuất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Excel).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3.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Tiêu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chí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hoàn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thành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(Exit Criteria)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Thực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thành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100% Test Scripts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(63 Cases).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Bao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phủ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kịch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chuẩn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Happy Path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ngoại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lệ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mật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Exception/Security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145111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7F4D9-1F92-F31E-A6EE-A2F08D589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 KẾ CA KIỂM THỬ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2886C-6BAE-F55D-FE3D-5D4336826845}"/>
              </a:ext>
            </a:extLst>
          </p:cNvPr>
          <p:cNvSpPr txBox="1"/>
          <p:nvPr/>
        </p:nvSpPr>
        <p:spPr>
          <a:xfrm>
            <a:off x="1066801" y="1900930"/>
            <a:ext cx="481021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600" b="1" dirty="0">
                <a:latin typeface="Inter"/>
              </a:rPr>
              <a:t>Tổng số Test Cases:</a:t>
            </a:r>
            <a:r>
              <a:rPr lang="vi-VN" sz="1600" dirty="0">
                <a:latin typeface="Inter"/>
              </a:rPr>
              <a:t> 57 Kịch bản </a:t>
            </a:r>
            <a:endParaRPr lang="en-US" sz="1600" dirty="0">
              <a:latin typeface="Inter"/>
            </a:endParaRPr>
          </a:p>
          <a:p>
            <a:r>
              <a:rPr lang="vi-VN" sz="1600" b="1" dirty="0">
                <a:latin typeface="Inter"/>
              </a:rPr>
              <a:t>Kỹ thuật Hộp đen (Black-box) áp dụng:</a:t>
            </a:r>
            <a:endParaRPr lang="vi-VN" sz="1600" dirty="0">
              <a:latin typeface="Inter"/>
            </a:endParaRPr>
          </a:p>
          <a:p>
            <a:r>
              <a:rPr lang="vi-VN" sz="1600" b="1" dirty="0">
                <a:latin typeface="Inter"/>
              </a:rPr>
              <a:t>1. Phân tích giá trị biên (Boundary Value Analysis):</a:t>
            </a:r>
            <a:endParaRPr lang="vi-VN" sz="1600" dirty="0">
              <a:latin typeface="Inter"/>
            </a:endParaRPr>
          </a:p>
          <a:p>
            <a:pPr marL="742950" lvl="1" indent="-285750">
              <a:buFontTx/>
              <a:buChar char="‒"/>
            </a:pPr>
            <a:r>
              <a:rPr lang="vi-VN" sz="1600" i="1" dirty="0">
                <a:latin typeface="Inter"/>
              </a:rPr>
              <a:t>Áp dụng:</a:t>
            </a:r>
            <a:r>
              <a:rPr lang="vi-VN" sz="1600" dirty="0">
                <a:latin typeface="Inter"/>
              </a:rPr>
              <a:t> Điều kiện mã giảm giá.</a:t>
            </a:r>
          </a:p>
          <a:p>
            <a:pPr marL="742950" lvl="1" indent="-285750">
              <a:buFontTx/>
              <a:buChar char="‒"/>
            </a:pPr>
            <a:r>
              <a:rPr lang="vi-VN" sz="1600" i="1" dirty="0">
                <a:latin typeface="Inter"/>
              </a:rPr>
              <a:t>Ví dụ:</a:t>
            </a:r>
            <a:r>
              <a:rPr lang="vi-VN" sz="1600" dirty="0">
                <a:latin typeface="Inter"/>
              </a:rPr>
              <a:t> Test giỏ hàng 2.499.999đ (Fail) và 2.500.000đ (Pass).</a:t>
            </a:r>
          </a:p>
          <a:p>
            <a:r>
              <a:rPr lang="vi-VN" sz="1600" b="1" dirty="0">
                <a:latin typeface="Inter"/>
              </a:rPr>
              <a:t>2. Phân vùng tương đương (Equivalence Partitioning):</a:t>
            </a:r>
            <a:endParaRPr lang="vi-VN" sz="1600" dirty="0">
              <a:latin typeface="Inter"/>
            </a:endParaRPr>
          </a:p>
          <a:p>
            <a:pPr marL="742950" lvl="1" indent="-285750">
              <a:buFontTx/>
              <a:buChar char="‒"/>
            </a:pPr>
            <a:r>
              <a:rPr lang="vi-VN" sz="1600" i="1" dirty="0">
                <a:latin typeface="Inter"/>
              </a:rPr>
              <a:t>Áp dụng:</a:t>
            </a:r>
            <a:r>
              <a:rPr lang="vi-VN" sz="1600" dirty="0">
                <a:latin typeface="Inter"/>
              </a:rPr>
              <a:t> Logic trừ tồn kho.</a:t>
            </a:r>
          </a:p>
          <a:p>
            <a:pPr marL="742950" lvl="1" indent="-285750">
              <a:buFontTx/>
              <a:buChar char="‒"/>
            </a:pPr>
            <a:r>
              <a:rPr lang="vi-VN" sz="1600" i="1" dirty="0">
                <a:latin typeface="Inter"/>
              </a:rPr>
              <a:t>Ví dụ:</a:t>
            </a:r>
            <a:r>
              <a:rPr lang="vi-VN" sz="1600" dirty="0">
                <a:latin typeface="Inter"/>
              </a:rPr>
              <a:t> Kho có 5 SP -&gt; Mua 1-5 SP (Hợp lệ), Mua &gt;5 SP (Chặn).</a:t>
            </a:r>
          </a:p>
          <a:p>
            <a:r>
              <a:rPr lang="vi-VN" sz="1600" b="1" dirty="0">
                <a:latin typeface="Inter"/>
              </a:rPr>
              <a:t>3. Đoán lỗi &amp; Bảo mật (Error Guessing / Security):</a:t>
            </a:r>
            <a:endParaRPr lang="vi-VN" sz="1600" dirty="0">
              <a:latin typeface="Inter"/>
            </a:endParaRPr>
          </a:p>
          <a:p>
            <a:pPr marL="742950" lvl="1" indent="-285750">
              <a:buFontTx/>
              <a:buChar char="‒"/>
            </a:pPr>
            <a:r>
              <a:rPr lang="vi-VN" sz="1600" i="1" dirty="0">
                <a:latin typeface="Inter"/>
              </a:rPr>
              <a:t>Áp dụng:</a:t>
            </a:r>
            <a:r>
              <a:rPr lang="vi-VN" sz="1600" dirty="0">
                <a:latin typeface="Inter"/>
              </a:rPr>
              <a:t> Đầu vào (Input) của mọi API.</a:t>
            </a:r>
          </a:p>
          <a:p>
            <a:pPr marL="742950" lvl="1" indent="-285750">
              <a:buFontTx/>
              <a:buChar char="‒"/>
            </a:pPr>
            <a:r>
              <a:rPr lang="vi-VN" sz="1600" i="1" dirty="0">
                <a:latin typeface="Inter"/>
              </a:rPr>
              <a:t>Ví dụ:</a:t>
            </a:r>
            <a:r>
              <a:rPr lang="vi-VN" sz="1600" dirty="0">
                <a:latin typeface="Inter"/>
              </a:rPr>
              <a:t> Truyền số lượng âm (-5), chữ cái, mã độc XSS, SQL Injection.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CBA348-7287-9A5B-B2D9-A8ED0D20C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017" y="1900930"/>
            <a:ext cx="5894774" cy="408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773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354C9-00CB-3AC6-BF02-53D88A7C8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TRIỂN KHAI KIỂM THỬ TỰ ĐỘNG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1A12BBF-7266-5047-71FD-9C2AFC2C96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014194"/>
            <a:ext cx="4975145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1.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Công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cụ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&amp;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Thư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viện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(Tools)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PyTest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Framework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chính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chạy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kịch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bản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tự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động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JSON: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Lưu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trữ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57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kịch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bản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kiểm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thử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(Test Data).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XlsxWriter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Tự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động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vẽ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Biểu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đồ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&amp;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xuất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báo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cáo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Excel.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2.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Luồng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hoạt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động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Data-Driven (Workflow)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Bước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1: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Script test_*.py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đọc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dữ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liệu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từ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file data_*.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json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Bước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2: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Bơm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dữ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liệu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giả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lập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vào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API Backend.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Bước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3: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Assert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Đối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chiếu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)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kết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quả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trả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về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với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mong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đợi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3.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Tốc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độ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&amp;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Hiệu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năng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Thực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toàn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bộ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57 Test Cases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Thời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gian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chạy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Chỉ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từ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1 - 2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giây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Chỉ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cần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gõ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1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lệnh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pytest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store/tests/ -v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09F06A-3725-DC11-11ED-033FD82F9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092" y="4206979"/>
            <a:ext cx="4819226" cy="17821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FD9DEC-BDA7-C3C1-5B14-66E7E6A32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091" y="1882066"/>
            <a:ext cx="2277079" cy="221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63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354C9-00CB-3AC6-BF02-53D88A7C8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 QUẢ THỰC THI KIỂM THỬ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0A14EE4-4185-B553-A21C-1EFE3DC511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014194"/>
            <a:ext cx="50292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Tổng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quan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số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liệu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(Dashboard):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Tổng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số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Test Cases: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57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kịch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Số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TC PASS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Đạt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49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kịch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86%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).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Hệ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thống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xử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lý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đúng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thiết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kế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Số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TC FAIL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Lỗi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08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kịch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14%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).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Đã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ghi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nhận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thành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Bug Report.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Đánh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giá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quá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trình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chạy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động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sinh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báo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cáo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Excel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Hoàn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thành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100%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mục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tiêu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ban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đầu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79F48F-7903-C19D-A97A-6B43E62F4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982" y="1808643"/>
            <a:ext cx="4566261" cy="20831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888C34-FE3E-6638-7CBE-1600D5BD2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982" y="3891791"/>
            <a:ext cx="4262387" cy="256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81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2D37DCA-A290-FA5E-56F6-853F65B73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BÁO CÁO LỖI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DE70CB-7D05-1C51-CB2B-F4261E3DF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1" y="2014194"/>
            <a:ext cx="50292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Tổng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số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lỗi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phát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hiện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08 Bugs.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Các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lỗ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hổng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nghiêm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trọng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nhất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1. [CRITICAL]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Sập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Server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Lỗi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500):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Hệ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thống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Crash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khi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truyền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chữ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cái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hoặc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Boolean (True/False)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vào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số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lượng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đặt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hàng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2. [MAJOR]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Lỗi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logic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kinh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doanh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Tồn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kho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Backend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phép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khách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hàng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mua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sản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phẩm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với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số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lượng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thập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phân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Ví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dụ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: Mua 1.5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đĩa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than).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3. [MAJOR]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Lỗ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hổng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Giỏ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hàng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âm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API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không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chặn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lập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tức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giỏ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hàng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có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tổng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tiền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âm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(-1đ)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khi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áp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mã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giảm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giá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4. [MINOR]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Thiếu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xử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lý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chuỗi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(Trim/Strip):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Mã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giảm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giá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và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ô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Tìm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kiếm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báo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lỗi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trống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trơn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chỉ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vì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khách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hàng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gõ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dư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một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khoảng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trắng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3EA729-341A-C4C6-32E7-F718EAC3A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14194"/>
            <a:ext cx="5391705" cy="439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83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354C9-00CB-3AC6-BF02-53D88A7C8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 KÊ LỖI TỔNG QUAN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DAD47A-525A-F681-6940-9309B4CB7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159623" cy="384962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Inter"/>
              </a:rPr>
              <a:t>1. </a:t>
            </a:r>
            <a:r>
              <a:rPr lang="en-US" sz="1800" b="1" dirty="0" err="1">
                <a:latin typeface="Inter"/>
              </a:rPr>
              <a:t>Phân</a:t>
            </a:r>
            <a:r>
              <a:rPr lang="en-US" sz="1800" b="1" dirty="0">
                <a:latin typeface="Inter"/>
              </a:rPr>
              <a:t> </a:t>
            </a:r>
            <a:r>
              <a:rPr lang="en-US" sz="1800" b="1" dirty="0" err="1">
                <a:latin typeface="Inter"/>
              </a:rPr>
              <a:t>bổ</a:t>
            </a:r>
            <a:r>
              <a:rPr lang="en-US" sz="1800" b="1" dirty="0">
                <a:latin typeface="Inter"/>
              </a:rPr>
              <a:t> </a:t>
            </a:r>
            <a:r>
              <a:rPr lang="en-US" sz="1800" b="1" dirty="0" err="1">
                <a:latin typeface="Inter"/>
              </a:rPr>
              <a:t>theo</a:t>
            </a:r>
            <a:r>
              <a:rPr lang="en-US" sz="1800" b="1" dirty="0">
                <a:latin typeface="Inter"/>
              </a:rPr>
              <a:t> </a:t>
            </a:r>
            <a:r>
              <a:rPr lang="en-US" sz="1800" b="1" dirty="0" err="1">
                <a:latin typeface="Inter"/>
              </a:rPr>
              <a:t>Chức</a:t>
            </a:r>
            <a:r>
              <a:rPr lang="en-US" sz="1800" b="1" dirty="0">
                <a:latin typeface="Inter"/>
              </a:rPr>
              <a:t> </a:t>
            </a:r>
            <a:r>
              <a:rPr lang="en-US" sz="1800" b="1" dirty="0" err="1">
                <a:latin typeface="Inter"/>
              </a:rPr>
              <a:t>năng</a:t>
            </a:r>
            <a:r>
              <a:rPr lang="en-US" sz="1800" b="1" dirty="0">
                <a:latin typeface="Inter"/>
              </a:rPr>
              <a:t> (Module):</a:t>
            </a:r>
            <a:endParaRPr lang="en-US" sz="1800" dirty="0">
              <a:latin typeface="Int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‒"/>
            </a:pPr>
            <a:r>
              <a:rPr lang="en-US" sz="1800" b="1" dirty="0" err="1">
                <a:latin typeface="Inter"/>
              </a:rPr>
              <a:t>Mã</a:t>
            </a:r>
            <a:r>
              <a:rPr lang="en-US" sz="1800" b="1" dirty="0">
                <a:latin typeface="Inter"/>
              </a:rPr>
              <a:t> </a:t>
            </a:r>
            <a:r>
              <a:rPr lang="en-US" sz="1800" b="1" dirty="0" err="1">
                <a:latin typeface="Inter"/>
              </a:rPr>
              <a:t>giảm</a:t>
            </a:r>
            <a:r>
              <a:rPr lang="en-US" sz="1800" b="1" dirty="0">
                <a:latin typeface="Inter"/>
              </a:rPr>
              <a:t> </a:t>
            </a:r>
            <a:r>
              <a:rPr lang="en-US" sz="1800" b="1" dirty="0" err="1">
                <a:latin typeface="Inter"/>
              </a:rPr>
              <a:t>giá</a:t>
            </a:r>
            <a:r>
              <a:rPr lang="en-US" sz="1800" b="1" dirty="0">
                <a:latin typeface="Inter"/>
              </a:rPr>
              <a:t> &amp; </a:t>
            </a:r>
            <a:r>
              <a:rPr lang="en-US" sz="1800" b="1" dirty="0" err="1">
                <a:latin typeface="Inter"/>
              </a:rPr>
              <a:t>Đặt</a:t>
            </a:r>
            <a:r>
              <a:rPr lang="en-US" sz="1800" b="1" dirty="0">
                <a:latin typeface="Inter"/>
              </a:rPr>
              <a:t> </a:t>
            </a:r>
            <a:r>
              <a:rPr lang="en-US" sz="1800" b="1" dirty="0" err="1">
                <a:latin typeface="Inter"/>
              </a:rPr>
              <a:t>hàng</a:t>
            </a:r>
            <a:r>
              <a:rPr lang="en-US" sz="1800" b="1" dirty="0">
                <a:latin typeface="Inter"/>
              </a:rPr>
              <a:t>: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Tập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trung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nhiều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lỗi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nhất</a:t>
            </a:r>
            <a:r>
              <a:rPr lang="en-US" sz="1800" dirty="0">
                <a:latin typeface="Inter"/>
              </a:rPr>
              <a:t> (</a:t>
            </a:r>
            <a:r>
              <a:rPr lang="en-US" sz="1800" dirty="0" err="1">
                <a:latin typeface="Inter"/>
              </a:rPr>
              <a:t>chiếm</a:t>
            </a:r>
            <a:r>
              <a:rPr lang="en-US" sz="1800" dirty="0">
                <a:latin typeface="Inter"/>
              </a:rPr>
              <a:t> 75% </a:t>
            </a:r>
            <a:r>
              <a:rPr lang="en-US" sz="1800" dirty="0" err="1">
                <a:latin typeface="Inter"/>
              </a:rPr>
              <a:t>tổng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số</a:t>
            </a:r>
            <a:r>
              <a:rPr lang="en-US" sz="1800" dirty="0">
                <a:latin typeface="Inter"/>
              </a:rPr>
              <a:t> Bug).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‒"/>
            </a:pPr>
            <a:r>
              <a:rPr lang="en-US" sz="1800" b="1" dirty="0" err="1">
                <a:latin typeface="Inter"/>
              </a:rPr>
              <a:t>Tìm</a:t>
            </a:r>
            <a:r>
              <a:rPr lang="en-US" sz="1800" b="1" dirty="0">
                <a:latin typeface="Inter"/>
              </a:rPr>
              <a:t> </a:t>
            </a:r>
            <a:r>
              <a:rPr lang="en-US" sz="1800" b="1" dirty="0" err="1">
                <a:latin typeface="Inter"/>
              </a:rPr>
              <a:t>kiếm</a:t>
            </a:r>
            <a:r>
              <a:rPr lang="en-US" sz="1800" b="1" dirty="0">
                <a:latin typeface="Inter"/>
              </a:rPr>
              <a:t>: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Chiếm</a:t>
            </a:r>
            <a:r>
              <a:rPr lang="en-US" sz="1800" dirty="0">
                <a:latin typeface="Inter"/>
              </a:rPr>
              <a:t> 25%.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Inter"/>
              </a:rPr>
              <a:t>2. </a:t>
            </a:r>
            <a:r>
              <a:rPr lang="en-US" sz="1800" b="1" dirty="0" err="1">
                <a:latin typeface="Inter"/>
              </a:rPr>
              <a:t>Phân</a:t>
            </a:r>
            <a:r>
              <a:rPr lang="en-US" sz="1800" b="1" dirty="0">
                <a:latin typeface="Inter"/>
              </a:rPr>
              <a:t> </a:t>
            </a:r>
            <a:r>
              <a:rPr lang="en-US" sz="1800" b="1" dirty="0" err="1">
                <a:latin typeface="Inter"/>
              </a:rPr>
              <a:t>loại</a:t>
            </a:r>
            <a:r>
              <a:rPr lang="en-US" sz="1800" b="1" dirty="0">
                <a:latin typeface="Inter"/>
              </a:rPr>
              <a:t> </a:t>
            </a:r>
            <a:r>
              <a:rPr lang="en-US" sz="1800" b="1" dirty="0" err="1">
                <a:latin typeface="Inter"/>
              </a:rPr>
              <a:t>theo</a:t>
            </a:r>
            <a:r>
              <a:rPr lang="en-US" sz="1800" b="1" dirty="0">
                <a:latin typeface="Inter"/>
              </a:rPr>
              <a:t> </a:t>
            </a:r>
            <a:r>
              <a:rPr lang="en-US" sz="1800" b="1" dirty="0" err="1">
                <a:latin typeface="Inter"/>
              </a:rPr>
              <a:t>Mức</a:t>
            </a:r>
            <a:r>
              <a:rPr lang="en-US" sz="1800" b="1" dirty="0">
                <a:latin typeface="Inter"/>
              </a:rPr>
              <a:t> </a:t>
            </a:r>
            <a:r>
              <a:rPr lang="en-US" sz="1800" b="1" dirty="0" err="1">
                <a:latin typeface="Inter"/>
              </a:rPr>
              <a:t>độ</a:t>
            </a:r>
            <a:r>
              <a:rPr lang="en-US" sz="1800" b="1" dirty="0">
                <a:latin typeface="Inter"/>
              </a:rPr>
              <a:t> (Severity):</a:t>
            </a:r>
            <a:endParaRPr lang="en-US" sz="1800" dirty="0">
              <a:latin typeface="Int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‒"/>
            </a:pPr>
            <a:r>
              <a:rPr lang="en-US" sz="1800" b="1" dirty="0" err="1">
                <a:latin typeface="Inter"/>
              </a:rPr>
              <a:t>Lỗi</a:t>
            </a:r>
            <a:r>
              <a:rPr lang="en-US" sz="1800" b="1" dirty="0">
                <a:latin typeface="Inter"/>
              </a:rPr>
              <a:t> Nghiêm </a:t>
            </a:r>
            <a:r>
              <a:rPr lang="en-US" sz="1800" b="1" dirty="0" err="1">
                <a:latin typeface="Inter"/>
              </a:rPr>
              <a:t>trọng</a:t>
            </a:r>
            <a:r>
              <a:rPr lang="en-US" sz="1800" b="1" dirty="0">
                <a:latin typeface="Inter"/>
              </a:rPr>
              <a:t> (Critical/Major):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Chiếm</a:t>
            </a:r>
            <a:r>
              <a:rPr lang="en-US" sz="1800" dirty="0">
                <a:latin typeface="Inter"/>
              </a:rPr>
              <a:t> 25% (</a:t>
            </a:r>
            <a:r>
              <a:rPr lang="en-US" sz="1800" dirty="0" err="1">
                <a:latin typeface="Inter"/>
              </a:rPr>
              <a:t>Gây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sập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hệ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thống</a:t>
            </a:r>
            <a:r>
              <a:rPr lang="en-US" sz="1800" dirty="0">
                <a:latin typeface="Inter"/>
              </a:rPr>
              <a:t>, </a:t>
            </a:r>
            <a:r>
              <a:rPr lang="en-US" sz="1800" dirty="0" err="1">
                <a:latin typeface="Inter"/>
              </a:rPr>
              <a:t>sai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lệch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doanh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thu</a:t>
            </a:r>
            <a:r>
              <a:rPr lang="en-US" sz="1800" dirty="0">
                <a:latin typeface="Inter"/>
              </a:rPr>
              <a:t>).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‒"/>
            </a:pPr>
            <a:r>
              <a:rPr lang="en-US" sz="1800" b="1" dirty="0" err="1">
                <a:latin typeface="Inter"/>
              </a:rPr>
              <a:t>Lỗi</a:t>
            </a:r>
            <a:r>
              <a:rPr lang="en-US" sz="1800" b="1" dirty="0">
                <a:latin typeface="Inter"/>
              </a:rPr>
              <a:t> Trung </a:t>
            </a:r>
            <a:r>
              <a:rPr lang="en-US" sz="1800" b="1" dirty="0" err="1">
                <a:latin typeface="Inter"/>
              </a:rPr>
              <a:t>bình</a:t>
            </a:r>
            <a:r>
              <a:rPr lang="en-US" sz="1800" b="1" dirty="0">
                <a:latin typeface="Inter"/>
              </a:rPr>
              <a:t>/</a:t>
            </a:r>
            <a:r>
              <a:rPr lang="en-US" sz="1800" b="1" dirty="0" err="1">
                <a:latin typeface="Inter"/>
              </a:rPr>
              <a:t>Nhỏ</a:t>
            </a:r>
            <a:r>
              <a:rPr lang="en-US" sz="1800" b="1" dirty="0">
                <a:latin typeface="Inter"/>
              </a:rPr>
              <a:t> (Minor/Trivial):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Chiếm</a:t>
            </a:r>
            <a:r>
              <a:rPr lang="en-US" sz="1800" dirty="0">
                <a:latin typeface="Inter"/>
              </a:rPr>
              <a:t> 75% (</a:t>
            </a:r>
            <a:r>
              <a:rPr lang="en-US" sz="1800" dirty="0" err="1">
                <a:latin typeface="Inter"/>
              </a:rPr>
              <a:t>Chủ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yếu</a:t>
            </a:r>
            <a:r>
              <a:rPr lang="en-US" sz="1800" dirty="0">
                <a:latin typeface="Inter"/>
              </a:rPr>
              <a:t> do </a:t>
            </a:r>
            <a:r>
              <a:rPr lang="en-US" sz="1800" dirty="0" err="1">
                <a:latin typeface="Inter"/>
              </a:rPr>
              <a:t>thiếu</a:t>
            </a:r>
            <a:r>
              <a:rPr lang="en-US" sz="1800" dirty="0">
                <a:latin typeface="Inter"/>
              </a:rPr>
              <a:t> Validate </a:t>
            </a:r>
            <a:r>
              <a:rPr lang="en-US" sz="1800" dirty="0" err="1">
                <a:latin typeface="Inter"/>
              </a:rPr>
              <a:t>dữ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liệu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đầu</a:t>
            </a:r>
            <a:r>
              <a:rPr lang="en-US" sz="1800" dirty="0">
                <a:latin typeface="Inter"/>
              </a:rPr>
              <a:t> </a:t>
            </a:r>
            <a:r>
              <a:rPr lang="en-US" sz="1800" dirty="0" err="1">
                <a:latin typeface="Inter"/>
              </a:rPr>
              <a:t>vào</a:t>
            </a:r>
            <a:r>
              <a:rPr lang="en-US" sz="1800" dirty="0">
                <a:latin typeface="Inter"/>
              </a:rPr>
              <a:t>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latin typeface="Inte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B851AB-3625-8178-5265-28424B761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313" y="606805"/>
            <a:ext cx="3480046" cy="27553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251D2E-7C65-E200-BF0E-D5A6FAC8E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731" y="3362107"/>
            <a:ext cx="4163628" cy="296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892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354C9-00CB-3AC6-BF02-53D88A7C8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TỔNG KẾT &amp; HƯỚNG PHÁT TRIỂN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DB82DB-2F47-1753-A89A-D880BA9F8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Inter"/>
              </a:rPr>
              <a:t>1. </a:t>
            </a:r>
            <a:r>
              <a:rPr lang="vi-VN" sz="1800" b="1" dirty="0">
                <a:latin typeface="Inter"/>
              </a:rPr>
              <a:t>Kết quả đạt được (Achievements):</a:t>
            </a:r>
            <a:endParaRPr lang="vi-VN" sz="1800" dirty="0">
              <a:latin typeface="Inter"/>
            </a:endParaRPr>
          </a:p>
          <a:p>
            <a:pPr>
              <a:lnSpc>
                <a:spcPct val="100000"/>
              </a:lnSpc>
              <a:buFontTx/>
              <a:buChar char="‒"/>
            </a:pPr>
            <a:r>
              <a:rPr lang="vi-VN" sz="1800" dirty="0">
                <a:latin typeface="Inter"/>
              </a:rPr>
              <a:t>Áp dụng thành công mô hình </a:t>
            </a:r>
            <a:r>
              <a:rPr lang="vi-VN" sz="1800" b="1" dirty="0">
                <a:latin typeface="Inter"/>
              </a:rPr>
              <a:t>Data-Driven Testing (DDT)</a:t>
            </a:r>
            <a:r>
              <a:rPr lang="vi-VN" sz="1800" dirty="0">
                <a:latin typeface="Inter"/>
              </a:rPr>
              <a:t>.</a:t>
            </a:r>
          </a:p>
          <a:p>
            <a:pPr>
              <a:lnSpc>
                <a:spcPct val="100000"/>
              </a:lnSpc>
              <a:buFontTx/>
              <a:buChar char="‒"/>
            </a:pPr>
            <a:r>
              <a:rPr lang="vi-VN" sz="1800" dirty="0">
                <a:latin typeface="Inter"/>
              </a:rPr>
              <a:t>Tự động hóa 100% việc chạy test và xuất Dashboard báo cáo.</a:t>
            </a:r>
          </a:p>
          <a:p>
            <a:pPr>
              <a:lnSpc>
                <a:spcPct val="100000"/>
              </a:lnSpc>
              <a:buFontTx/>
              <a:buChar char="‒"/>
            </a:pPr>
            <a:r>
              <a:rPr lang="vi-VN" sz="1800" dirty="0">
                <a:latin typeface="Inter"/>
              </a:rPr>
              <a:t>Phát hiện &amp; log thành công 08 lỗ hổng nguy hiểm ở Backend.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Inter"/>
              </a:rPr>
              <a:t>2. </a:t>
            </a:r>
            <a:r>
              <a:rPr lang="vi-VN" sz="1800" b="1" dirty="0">
                <a:latin typeface="Inter"/>
              </a:rPr>
              <a:t>Bài học kinh nghiệm (Lessons Learned):</a:t>
            </a:r>
            <a:endParaRPr lang="vi-VN" sz="1800" dirty="0">
              <a:latin typeface="Inter"/>
            </a:endParaRPr>
          </a:p>
          <a:p>
            <a:pPr>
              <a:lnSpc>
                <a:spcPct val="100000"/>
              </a:lnSpc>
              <a:buFontTx/>
              <a:buChar char="‒"/>
            </a:pPr>
            <a:r>
              <a:rPr lang="vi-VN" sz="1800" i="1" dirty="0">
                <a:latin typeface="Inter"/>
              </a:rPr>
              <a:t>Nguyên tắc vàng:</a:t>
            </a:r>
            <a:r>
              <a:rPr lang="vi-VN" sz="1800" dirty="0">
                <a:latin typeface="Inter"/>
              </a:rPr>
              <a:t> Không bao giờ tin tưởng dữ liệu từ Client (Frontend).</a:t>
            </a:r>
          </a:p>
          <a:p>
            <a:pPr>
              <a:lnSpc>
                <a:spcPct val="100000"/>
              </a:lnSpc>
              <a:buFontTx/>
              <a:buChar char="‒"/>
            </a:pPr>
            <a:r>
              <a:rPr lang="vi-VN" sz="1800" dirty="0">
                <a:latin typeface="Inter"/>
              </a:rPr>
              <a:t>Backend luôn phải có lớp Validate ép kiểu và xử lý ký tự đặc biệt chặn đứng XSS, SQL Injection.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Inter"/>
              </a:rPr>
              <a:t>3. </a:t>
            </a:r>
            <a:r>
              <a:rPr lang="vi-VN" sz="1800" b="1" dirty="0">
                <a:latin typeface="Inter"/>
              </a:rPr>
              <a:t>Hướng phát triển (Future Work):</a:t>
            </a:r>
            <a:endParaRPr lang="vi-VN" sz="1800" dirty="0">
              <a:latin typeface="Inter"/>
            </a:endParaRPr>
          </a:p>
          <a:p>
            <a:pPr>
              <a:lnSpc>
                <a:spcPct val="100000"/>
              </a:lnSpc>
              <a:buFontTx/>
              <a:buChar char="‒"/>
            </a:pPr>
            <a:r>
              <a:rPr lang="vi-VN" sz="1800" dirty="0">
                <a:latin typeface="Inter"/>
              </a:rPr>
              <a:t>Bổ sung Test Cases cho phân hệ Đăng nhập/Đăng ký.</a:t>
            </a:r>
          </a:p>
          <a:p>
            <a:pPr>
              <a:lnSpc>
                <a:spcPct val="100000"/>
              </a:lnSpc>
              <a:buFontTx/>
              <a:buChar char="‒"/>
            </a:pPr>
            <a:r>
              <a:rPr lang="vi-VN" sz="1800" dirty="0">
                <a:latin typeface="Inter"/>
              </a:rPr>
              <a:t>Tích hợp bộ Test vào luồng </a:t>
            </a:r>
            <a:r>
              <a:rPr lang="vi-VN" sz="1800" b="1" dirty="0">
                <a:latin typeface="Inter"/>
              </a:rPr>
              <a:t>CI/CD (GitHub Actions)</a:t>
            </a:r>
            <a:r>
              <a:rPr lang="vi-VN" sz="1800" dirty="0">
                <a:latin typeface="Inter"/>
              </a:rPr>
              <a:t> (Tự động chạy Test mỗi khi Developer đẩy code mới).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196995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354C9-00CB-3AC6-BF02-53D88A7C8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TÀI LIỆU THAM KHẢO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F322AC-3732-CD93-BB28-E14F25311ADC}"/>
              </a:ext>
            </a:extLst>
          </p:cNvPr>
          <p:cNvSpPr txBox="1"/>
          <p:nvPr/>
        </p:nvSpPr>
        <p:spPr>
          <a:xfrm>
            <a:off x="1066800" y="2014194"/>
            <a:ext cx="994447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1. 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Sách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và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Giáo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trình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 (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Tiếng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Việt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 &amp; 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Tiếng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 Anh)</a:t>
            </a:r>
            <a:endParaRPr lang="en-US" b="0" i="0" dirty="0">
              <a:solidFill>
                <a:srgbClr val="2B2D31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Hoàng, T. (2018). 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Giáo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trình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Kiểm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thử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phần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mềm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. Hà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Nội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: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Nhà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xuất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bản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Giáo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dục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Việt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Nam.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ISTQB. (2020). 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Giáo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trình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đào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tạo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kiểm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thử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viên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phần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mềm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(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Bản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dịch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tiếng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Việt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)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.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Hiệp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hội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Kiểm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thử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Phần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mềm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Quốc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tế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Pressman, R. S., &amp; Maxim, B. R. (2014). 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Software Engineering: A Practitioner's Approach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 (8th ed.). New York, NY: McGraw-Hill Education.</a:t>
            </a:r>
          </a:p>
          <a:p>
            <a:pPr algn="l"/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2. 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Tài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liệu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kỹ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thuật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và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Công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1" i="0" dirty="0" err="1">
                <a:solidFill>
                  <a:srgbClr val="2B2D31"/>
                </a:solidFill>
                <a:effectLst/>
                <a:latin typeface="Inter"/>
              </a:rPr>
              <a:t>cụ</a:t>
            </a:r>
            <a:r>
              <a:rPr lang="en-US" b="1" i="0" dirty="0">
                <a:solidFill>
                  <a:srgbClr val="2B2D31"/>
                </a:solidFill>
                <a:effectLst/>
                <a:latin typeface="Inter"/>
              </a:rPr>
              <a:t> (Frameworks &amp; Resources)</a:t>
            </a:r>
            <a:endParaRPr lang="en-US" b="0" i="0" dirty="0">
              <a:solidFill>
                <a:srgbClr val="2B2D31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Cypress. (2025). 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Data-Driven Testing in Cypress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.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Truy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cập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từ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: </a:t>
            </a:r>
            <a:r>
              <a:rPr lang="en-US" b="0" i="0" u="none" strike="noStrike" dirty="0">
                <a:solidFill>
                  <a:srgbClr val="2483E2"/>
                </a:solidFill>
                <a:effectLst/>
                <a:latin typeface="Inter"/>
                <a:hlinkClick r:id="rId2"/>
              </a:rPr>
              <a:t>https://docs.cypress.io/</a:t>
            </a:r>
            <a:endParaRPr lang="en-US" b="0" i="0" dirty="0">
              <a:solidFill>
                <a:srgbClr val="2B2D31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OWASP Foundation. (2025). 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OWASP Juice Shop Project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.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Truy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cập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từ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: </a:t>
            </a:r>
            <a:r>
              <a:rPr lang="en-US" b="0" i="0" u="none" strike="noStrike" dirty="0">
                <a:solidFill>
                  <a:srgbClr val="2483E2"/>
                </a:solidFill>
                <a:effectLst/>
                <a:latin typeface="Inter"/>
                <a:hlinkClick r:id="rId3"/>
              </a:rPr>
              <a:t>https://owasp.org/www-project-juice-shop/</a:t>
            </a:r>
            <a:endParaRPr lang="en-US" b="0" i="0" dirty="0">
              <a:solidFill>
                <a:srgbClr val="2B2D31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Python Software Foundation. (2025). 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Selenium with Python Documentation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.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Truy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cập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từ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: </a:t>
            </a:r>
            <a:r>
              <a:rPr lang="en-US" b="0" i="0" u="none" strike="noStrike" dirty="0">
                <a:solidFill>
                  <a:srgbClr val="2483E2"/>
                </a:solidFill>
                <a:effectLst/>
                <a:latin typeface="Inter"/>
                <a:hlinkClick r:id="rId4"/>
              </a:rPr>
              <a:t>https://selenium-python.readthedocs.io/</a:t>
            </a:r>
            <a:endParaRPr lang="en-US" b="0" i="0" dirty="0">
              <a:solidFill>
                <a:srgbClr val="2B2D31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Pytest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Development Team. (2025). </a:t>
            </a:r>
            <a:r>
              <a:rPr lang="en-US" b="0" i="1" dirty="0" err="1">
                <a:solidFill>
                  <a:srgbClr val="2B2D31"/>
                </a:solidFill>
                <a:effectLst/>
                <a:latin typeface="Inter"/>
              </a:rPr>
              <a:t>Pytest</a:t>
            </a:r>
            <a:r>
              <a:rPr lang="en-US" b="0" i="1" dirty="0">
                <a:solidFill>
                  <a:srgbClr val="2B2D31"/>
                </a:solidFill>
                <a:effectLst/>
                <a:latin typeface="Inter"/>
              </a:rPr>
              <a:t>: Helps you write better programs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.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Truy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cập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2B2D31"/>
                </a:solidFill>
                <a:effectLst/>
                <a:latin typeface="Inter"/>
              </a:rPr>
              <a:t>từ</a:t>
            </a:r>
            <a:r>
              <a:rPr lang="en-US" b="0" i="0" dirty="0">
                <a:solidFill>
                  <a:srgbClr val="2B2D31"/>
                </a:solidFill>
                <a:effectLst/>
                <a:latin typeface="Inter"/>
              </a:rPr>
              <a:t>: </a:t>
            </a:r>
            <a:r>
              <a:rPr lang="en-US" b="0" i="0" u="none" strike="noStrike" dirty="0">
                <a:solidFill>
                  <a:srgbClr val="2483E2"/>
                </a:solidFill>
                <a:effectLst/>
                <a:latin typeface="Inter"/>
                <a:hlinkClick r:id="rId5"/>
              </a:rPr>
              <a:t>https://docs.pytest.org/en/stable/</a:t>
            </a:r>
            <a:endParaRPr lang="en-US" b="0" i="0" dirty="0">
              <a:solidFill>
                <a:srgbClr val="2B2D31"/>
              </a:solidFill>
              <a:effectLst/>
              <a:latin typeface="Inter"/>
            </a:endParaRPr>
          </a:p>
          <a:p>
            <a:pPr algn="l"/>
            <a:endParaRPr lang="vi-VN" b="0" i="0" dirty="0">
              <a:solidFill>
                <a:srgbClr val="2B2D3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760401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Faded pastoral</Template>
  <TotalTime>1169</TotalTime>
  <Words>1297</Words>
  <Application>Microsoft Office PowerPoint</Application>
  <PresentationFormat>Widescreen</PresentationFormat>
  <Paragraphs>103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Avenir Next LT Pro</vt:lpstr>
      <vt:lpstr>Avenir Next LT Pro Light</vt:lpstr>
      <vt:lpstr>Calibri</vt:lpstr>
      <vt:lpstr>Garamond</vt:lpstr>
      <vt:lpstr>Inter</vt:lpstr>
      <vt:lpstr>Tahoma</vt:lpstr>
      <vt:lpstr>Wingdings</vt:lpstr>
      <vt:lpstr>SavonVTI</vt:lpstr>
      <vt:lpstr>Data-driven testing: chạy cùng test với nhiều bộ dữ liệu (CSV/JSON).</vt:lpstr>
      <vt:lpstr>TỔNG QUAN &amp; PHẠM VI KIỂM THỬ</vt:lpstr>
      <vt:lpstr>CHIẾN LƯỢC &amp; KẾ HOẠCH KIỂM THỬ</vt:lpstr>
      <vt:lpstr>THIẾT KẾ CA KIỂM THỬ</vt:lpstr>
      <vt:lpstr>TRIỂN KHAI KIỂM THỬ TỰ ĐỘNG</vt:lpstr>
      <vt:lpstr>KẾT QUẢ THỰC THI KIỂM THỬ</vt:lpstr>
      <vt:lpstr>BÁO CÁO LỖI</vt:lpstr>
      <vt:lpstr>THỐNG KÊ LỖI TỔNG QUAN</vt:lpstr>
      <vt:lpstr>TỔNG KẾT &amp; HƯỚNG PHÁT TRIỂN</vt:lpstr>
      <vt:lpstr>TÀI LIỆU THAM KHẢO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Thành Thái Nguyễn</dc:creator>
  <cp:lastModifiedBy>Thành Thái Nguyễn</cp:lastModifiedBy>
  <cp:revision>5</cp:revision>
  <dcterms:created xsi:type="dcterms:W3CDTF">2026-03-16T07:55:07Z</dcterms:created>
  <dcterms:modified xsi:type="dcterms:W3CDTF">2026-03-30T16:19:31Z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